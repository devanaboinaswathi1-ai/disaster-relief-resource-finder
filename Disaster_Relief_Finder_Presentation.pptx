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DD4BF"/>
                </a:solidFill>
              </a:defRPr>
            </a:pPr>
            <a:r>
              <a:t>DISASTER RELIEF RESOURCE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Web-Based Disaster Relief Resource Locator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Guide: [Guide Name]</a:t>
            </a:r>
          </a:p>
          <a:p>
            <a:r>
              <a:t>Designation: [Professor/Assistant Professor]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Project Done By:</a:t>
            </a:r>
          </a:p>
          <a:p>
            <a:r>
              <a:t>[Student Name]</a:t>
            </a:r>
          </a:p>
          <a:p>
            <a:r>
              <a:t>Roll No: [Roll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Introduction to Project</a:t>
            </a:r>
          </a:p>
          <a:p>
            <a:pPr>
              <a:defRPr sz="1600"/>
            </a:pPr>
            <a:r>
              <a:t>Objectives</a:t>
            </a:r>
          </a:p>
          <a:p>
            <a:pPr>
              <a:defRPr sz="1600"/>
            </a:pPr>
            <a:r>
              <a:t>Advantages</a:t>
            </a:r>
          </a:p>
          <a:p>
            <a:pPr>
              <a:defRPr sz="1600"/>
            </a:pPr>
            <a:r>
              <a:t>Abstract &amp; Keywords</a:t>
            </a:r>
          </a:p>
          <a:p>
            <a:pPr>
              <a:defRPr sz="1600"/>
            </a:pPr>
            <a:r>
              <a:t>Existing Systems &amp; Drawbacks</a:t>
            </a:r>
          </a:p>
          <a:p>
            <a:pPr>
              <a:defRPr sz="1600"/>
            </a:pPr>
            <a:r>
              <a:t>Proposed System &amp; Merits</a:t>
            </a:r>
          </a:p>
          <a:p>
            <a:pPr>
              <a:defRPr sz="1600"/>
            </a:pPr>
            <a:r>
              <a:t>Hardware &amp; Software Requirements</a:t>
            </a:r>
          </a:p>
          <a:p>
            <a:pPr>
              <a:defRPr sz="1600"/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The Disaster Relief Resource Finder is a web-based GIS application that helps citizens locate essential relief resources during natural disasters and emergencies.</a:t>
            </a:r>
          </a:p>
          <a:p>
            <a:pPr>
              <a:defRPr sz="1400" b="1"/>
            </a:pPr>
            <a:r>
              <a:t>Main Functionality:</a:t>
            </a:r>
          </a:p>
          <a:p>
            <a:pPr lvl="1">
              <a:defRPr sz="1200"/>
            </a:pPr>
            <a:r>
              <a:t>Interactive map-based resource locator using Leaflet.js</a:t>
            </a:r>
          </a:p>
          <a:p>
            <a:pPr lvl="1">
              <a:defRPr sz="1200"/>
            </a:pPr>
            <a:r>
              <a:t>Real-time location tracking with GPS integration</a:t>
            </a:r>
          </a:p>
          <a:p>
            <a:pPr lvl="1">
              <a:defRPr sz="1200"/>
            </a:pPr>
            <a:r>
              <a:t>Filter relief centers by type (shelter, food, medical, water)</a:t>
            </a:r>
          </a:p>
          <a:p>
            <a:pPr lvl="1">
              <a:defRPr sz="1200"/>
            </a:pPr>
            <a:r>
              <a:t>Radius-based search (1-100 km) for nearby resources</a:t>
            </a:r>
          </a:p>
          <a:p>
            <a:pPr lvl="1">
              <a:defRPr sz="1200"/>
            </a:pPr>
            <a:r>
              <a:t>Admin dashboard for CRUD operations on relief centers</a:t>
            </a:r>
          </a:p>
          <a:p>
            <a:pPr lvl="1">
              <a:defRPr sz="1200"/>
            </a:pPr>
            <a:r>
              <a:t>Responsive design for mobile and desktop access</a:t>
            </a:r>
          </a:p>
          <a:p>
            <a:pPr>
              <a:defRPr sz="1100" i="1"/>
            </a:pPr>
            <a:r>
              <a:t>Keywords: Disaster Management, GIS, Relief Centers, Emergency Response, Web Mapping, PHP, MySQL, Leaflet.js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SYSTEMS &amp;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Existing Systems:</a:t>
            </a:r>
          </a:p>
          <a:p>
            <a:pPr lvl="1">
              <a:defRPr sz="1200"/>
            </a:pPr>
            <a:r>
              <a:t>Google Crisis Map - Global disaster tracking</a:t>
            </a:r>
          </a:p>
          <a:p>
            <a:pPr lvl="1">
              <a:defRPr sz="1200"/>
            </a:pPr>
            <a:r>
              <a:t>NDRF Mobile App - National disaster response</a:t>
            </a:r>
          </a:p>
          <a:p>
            <a:pPr lvl="1">
              <a:defRPr sz="1200"/>
            </a:pPr>
            <a:r>
              <a:t>State Government Portals - Static information pages</a:t>
            </a:r>
          </a:p>
          <a:p>
            <a:pPr lvl="1">
              <a:defRPr sz="1200"/>
            </a:pPr>
            <a:r>
              <a:t>Social Media Updates - Unverified crowdsourced data</a:t>
            </a:r>
          </a:p>
          <a:p>
            <a:pPr>
              <a:defRPr sz="1400" b="1"/>
            </a:pPr>
            <a:r>
              <a:t>Drawbacks:</a:t>
            </a:r>
          </a:p>
          <a:p>
            <a:pPr lvl="1">
              <a:defRPr sz="1200"/>
            </a:pPr>
            <a:r>
              <a:t>Limited local coverage for specific regions</a:t>
            </a:r>
          </a:p>
          <a:p>
            <a:pPr lvl="1">
              <a:defRPr sz="1200"/>
            </a:pPr>
            <a:r>
              <a:t>No real-time admin updates for relief centers</a:t>
            </a:r>
          </a:p>
          <a:p>
            <a:pPr lvl="1">
              <a:defRPr sz="1200"/>
            </a:pPr>
            <a:r>
              <a:t>Complex interfaces not user-friendly during emergencies</a:t>
            </a:r>
          </a:p>
          <a:p>
            <a:pPr lvl="1">
              <a:defRPr sz="1200"/>
            </a:pPr>
            <a:r>
              <a:t>Lack of radius-based proximity search</a:t>
            </a:r>
          </a:p>
          <a:p>
            <a:pPr lvl="1">
              <a:defRPr sz="1200"/>
            </a:pPr>
            <a:r>
              <a:t>No integrated CRUD operations for administrators</a:t>
            </a:r>
          </a:p>
          <a:p>
            <a:pPr lvl="1">
              <a:defRPr sz="1200"/>
            </a:pPr>
            <a:r>
              <a:t>Poor mobile responsiveness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&amp; MERITS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Proposed System:</a:t>
            </a:r>
          </a:p>
          <a:p>
            <a:pPr>
              <a:defRPr sz="1200"/>
            </a:pPr>
            <a:r>
              <a:t>A comprehensive web-based platform with interactive mapping, real-time updates, and location-based search for disaster relief resources across Andhra Pradesh and major Indian cities.</a:t>
            </a:r>
          </a:p>
          <a:p>
            <a:pPr>
              <a:defRPr sz="1400" b="1"/>
            </a:pPr>
            <a:r>
              <a:t>Advantages Over Existing Systems:</a:t>
            </a:r>
          </a:p>
          <a:p>
            <a:pPr lvl="1">
              <a:defRPr sz="1200"/>
            </a:pPr>
            <a:r>
              <a:t>Localized focus with 100+ relief centers in AP</a:t>
            </a:r>
          </a:p>
          <a:p>
            <a:pPr lvl="1">
              <a:defRPr sz="1200"/>
            </a:pPr>
            <a:r>
              <a:t>Real-time admin dashboard for instant updates</a:t>
            </a:r>
          </a:p>
          <a:p>
            <a:pPr lvl="1">
              <a:defRPr sz="1200"/>
            </a:pPr>
            <a:r>
              <a:t>Simple, intuitive interface for emergency use</a:t>
            </a:r>
          </a:p>
          <a:p>
            <a:pPr lvl="1">
              <a:defRPr sz="1200"/>
            </a:pPr>
            <a:r>
              <a:t>Customizable radius search (1-100 km)</a:t>
            </a:r>
          </a:p>
          <a:p>
            <a:pPr lvl="1">
              <a:defRPr sz="1200"/>
            </a:pPr>
            <a:r>
              <a:t>Complete CRUD operations for data management</a:t>
            </a:r>
          </a:p>
          <a:p>
            <a:pPr lvl="1">
              <a:defRPr sz="1200"/>
            </a:pPr>
            <a:r>
              <a:t>Fully responsive mobile-first design</a:t>
            </a:r>
          </a:p>
          <a:p>
            <a:pPr lvl="1">
              <a:defRPr sz="1200"/>
            </a:pPr>
            <a:r>
              <a:t>Open-source and easily deployable</a:t>
            </a:r>
          </a:p>
          <a:p>
            <a:pPr lvl="1">
              <a:defRPr sz="1200"/>
            </a:pPr>
            <a:r>
              <a:t>Offline-capable with service worker support (future)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Hardware Requirements:</a:t>
            </a:r>
          </a:p>
          <a:p>
            <a:pPr lvl="1">
              <a:defRPr sz="1200"/>
            </a:pPr>
            <a:r>
              <a:t>Processor: Intel Core i3 or higher</a:t>
            </a:r>
          </a:p>
          <a:p>
            <a:pPr lvl="1">
              <a:defRPr sz="1200"/>
            </a:pPr>
            <a:r>
              <a:t>RAM: 4GB minimum, 8GB recommended</a:t>
            </a:r>
          </a:p>
          <a:p>
            <a:pPr lvl="1">
              <a:defRPr sz="1200"/>
            </a:pPr>
            <a:r>
              <a:t>Storage: 500MB for application files</a:t>
            </a:r>
          </a:p>
          <a:p>
            <a:pPr lvl="1">
              <a:defRPr sz="1200"/>
            </a:pPr>
            <a:r>
              <a:t>Network: Internet connection for map tiles</a:t>
            </a:r>
          </a:p>
          <a:p>
            <a:pPr>
              <a:defRPr sz="1400" b="1"/>
            </a:pPr>
            <a:r>
              <a:t>Software Requirements:</a:t>
            </a:r>
          </a:p>
          <a:p>
            <a:pPr lvl="1">
              <a:defRPr sz="1200"/>
            </a:pPr>
            <a:r>
              <a:t>Server: XAMPP/WAMP/LAMP (Apache 2.4+)</a:t>
            </a:r>
          </a:p>
          <a:p>
            <a:pPr lvl="1">
              <a:defRPr sz="1200"/>
            </a:pPr>
            <a:r>
              <a:t>Backend: PHP 7.4 or higher</a:t>
            </a:r>
          </a:p>
          <a:p>
            <a:pPr lvl="1">
              <a:defRPr sz="1200"/>
            </a:pPr>
            <a:r>
              <a:t>Database: MySQL 5.7+ / MariaDB</a:t>
            </a:r>
          </a:p>
          <a:p>
            <a:pPr lvl="1">
              <a:defRPr sz="1200"/>
            </a:pPr>
            <a:r>
              <a:t>Frontend: HTML5, CSS3, JavaScript ES6+</a:t>
            </a:r>
          </a:p>
          <a:p>
            <a:pPr lvl="1">
              <a:defRPr sz="1200"/>
            </a:pPr>
            <a:r>
              <a:t>Mapping Library: Leaflet.js 1.9.4</a:t>
            </a:r>
          </a:p>
          <a:p>
            <a:pPr lvl="1">
              <a:defRPr sz="1200"/>
            </a:pPr>
            <a:r>
              <a:t>Browser: Chrome, Firefox, Safari, Edge (latest)</a:t>
            </a:r>
          </a:p>
          <a:p>
            <a:pPr lvl="1">
              <a:defRPr sz="1200"/>
            </a:pPr>
            <a:r>
              <a:t>Development Tools: VS Code, phpMyAdmin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&amp;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Functional Requirements:</a:t>
            </a:r>
          </a:p>
          <a:p>
            <a:pPr lvl="1">
              <a:defRPr sz="1200"/>
            </a:pPr>
            <a:r>
              <a:t>User location detection via GPS/manual selection</a:t>
            </a:r>
          </a:p>
          <a:p>
            <a:pPr lvl="1">
              <a:defRPr sz="1200"/>
            </a:pPr>
            <a:r>
              <a:t>Search relief centers by type and radius</a:t>
            </a:r>
          </a:p>
          <a:p>
            <a:pPr lvl="1">
              <a:defRPr sz="1200"/>
            </a:pPr>
            <a:r>
              <a:t>Display centers on interactive map with markers</a:t>
            </a:r>
          </a:p>
          <a:p>
            <a:pPr lvl="1">
              <a:defRPr sz="1200"/>
            </a:pPr>
            <a:r>
              <a:t>Admin authentication and session management</a:t>
            </a:r>
          </a:p>
          <a:p>
            <a:pPr lvl="1">
              <a:defRPr sz="1200"/>
            </a:pPr>
            <a:r>
              <a:t>CRUD operations: Add, Edit, Delete relief centers</a:t>
            </a:r>
          </a:p>
          <a:p>
            <a:pPr lvl="1">
              <a:defRPr sz="1200"/>
            </a:pPr>
            <a:r>
              <a:t>Distance calculation using Haversine formula</a:t>
            </a:r>
          </a:p>
          <a:p>
            <a:pPr lvl="1">
              <a:defRPr sz="1200"/>
            </a:pPr>
            <a:r>
              <a:t>Filter and sort results by proximity</a:t>
            </a:r>
          </a:p>
          <a:p>
            <a:pPr>
              <a:defRPr sz="1400" b="1"/>
            </a:pPr>
            <a:r>
              <a:t>Non-Functional Requirements:</a:t>
            </a:r>
          </a:p>
          <a:p>
            <a:pPr lvl="1">
              <a:defRPr sz="1200"/>
            </a:pPr>
            <a:r>
              <a:t>Performance: Page load &lt; 3 seconds</a:t>
            </a:r>
          </a:p>
          <a:p>
            <a:pPr lvl="1">
              <a:defRPr sz="1200"/>
            </a:pPr>
            <a:r>
              <a:t>Scalability: Support 1000+ concurrent users</a:t>
            </a:r>
          </a:p>
          <a:p>
            <a:pPr lvl="1">
              <a:defRPr sz="1200"/>
            </a:pPr>
            <a:r>
              <a:t>Security: SQL injection prevention, session security</a:t>
            </a:r>
          </a:p>
          <a:p>
            <a:pPr lvl="1">
              <a:defRPr sz="1200"/>
            </a:pPr>
            <a:r>
              <a:t>Usability: Intuitive UI, accessible during stress</a:t>
            </a:r>
          </a:p>
          <a:p>
            <a:pPr lvl="1">
              <a:defRPr sz="1200"/>
            </a:pPr>
            <a:r>
              <a:t>Reliability: 99.5% uptime, error handling</a:t>
            </a:r>
          </a:p>
          <a:p>
            <a:pPr lvl="1">
              <a:defRPr sz="1200"/>
            </a:pPr>
            <a:r>
              <a:t>Compatibility: Cross-browser and mobile responsive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Three-Tier Architecture:</a:t>
            </a:r>
          </a:p>
          <a:p>
            <a:pPr>
              <a:defRPr sz="1300" b="1"/>
            </a:pPr>
            <a:r>
              <a:t>1. Presentation Layer (Frontend):</a:t>
            </a:r>
          </a:p>
          <a:p>
            <a:pPr lvl="1">
              <a:defRPr sz="1100"/>
            </a:pPr>
            <a:r>
              <a:t>HTML5, CSS3, JavaScript, Leaflet.js for interactive UI</a:t>
            </a:r>
          </a:p>
          <a:p>
            <a:pPr>
              <a:defRPr sz="1300" b="1"/>
            </a:pPr>
            <a:r>
              <a:t>2. Application Layer (Backend):</a:t>
            </a:r>
          </a:p>
          <a:p>
            <a:pPr lvl="1">
              <a:defRPr sz="1100"/>
            </a:pPr>
            <a:r>
              <a:t>PHP scripts for API endpoints (get_centers.php, add_center.php, update_center.php, delete_center.php)</a:t>
            </a:r>
          </a:p>
          <a:p>
            <a:pPr>
              <a:defRPr sz="1300" b="1"/>
            </a:pPr>
            <a:r>
              <a:t>3. Data Layer (Database):</a:t>
            </a:r>
          </a:p>
          <a:p>
            <a:pPr lvl="1">
              <a:defRPr sz="1100"/>
            </a:pPr>
            <a:r>
              <a:t>MySQL database with 'centers' table storing relief center information</a:t>
            </a:r>
          </a:p>
          <a:p>
            <a:pPr>
              <a:defRPr sz="1100" i="1"/>
            </a:pPr>
            <a:r>
              <a:t>Components: User Browser → Apache Server → PHP Backend → MySQL DB → OpenStreetMap Tiles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300" b="1"/>
            </a:pPr>
            <a:r>
              <a:t>Use Case Diagram:</a:t>
            </a:r>
          </a:p>
          <a:p>
            <a:pPr lvl="1">
              <a:defRPr sz="1000"/>
            </a:pPr>
            <a:r>
              <a:t>Actors: Public User, Admin | Use Cases: Search Centers, View Map, Filter by Type, Add/Edit/Delete Centers, Login</a:t>
            </a:r>
          </a:p>
          <a:p>
            <a:pPr>
              <a:defRPr sz="1300" b="1"/>
            </a:pPr>
            <a:r>
              <a:t>Class Diagram:</a:t>
            </a:r>
          </a:p>
          <a:p>
            <a:pPr lvl="1">
              <a:defRPr sz="1000"/>
            </a:pPr>
            <a:r>
              <a:t>Classes: Center (id, name, type, lat, lng, address, phone), User, Admin, Map</a:t>
            </a:r>
          </a:p>
          <a:p>
            <a:pPr>
              <a:defRPr sz="1300" b="1"/>
            </a:pPr>
            <a:r>
              <a:t>Sequence Diagram:</a:t>
            </a:r>
          </a:p>
          <a:p>
            <a:pPr lvl="1">
              <a:defRPr sz="1000"/>
            </a:pPr>
            <a:r>
              <a:t>User → UI → API → Database → Response flow for search and CRUD operations</a:t>
            </a:r>
          </a:p>
          <a:p>
            <a:pPr>
              <a:defRPr sz="1300" b="1"/>
            </a:pPr>
            <a:r>
              <a:t>Activity Diagram:</a:t>
            </a:r>
          </a:p>
          <a:p>
            <a:pPr lvl="1">
              <a:defRPr sz="1000"/>
            </a:pPr>
            <a:r>
              <a:t>Flow: Start → Select Location → Choose Type → Set Radius → Search → Display Results → End</a:t>
            </a:r>
          </a:p>
          <a:p>
            <a:pPr>
              <a:defRPr sz="1300" b="1"/>
            </a:pPr>
            <a:r>
              <a:t>Deployment Diagram:</a:t>
            </a:r>
          </a:p>
          <a:p>
            <a:pPr lvl="1">
              <a:defRPr sz="1000"/>
            </a:pPr>
            <a:r>
              <a:t>Client Browser ↔ Apache Web Server ↔ PHP Runtime ↔ MySQL Server</a:t>
            </a:r>
          </a:p>
          <a:p>
            <a:pPr>
              <a:defRPr sz="1300" b="1"/>
            </a:pPr>
            <a:r>
              <a:t>Component Diagram:</a:t>
            </a:r>
          </a:p>
          <a:p>
            <a:pPr lvl="1">
              <a:defRPr sz="1000"/>
            </a:pPr>
            <a:r>
              <a:t>Components: Map Module, Search Module, Admin Module, Database Module, API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 b="1"/>
            </a:pPr>
            <a:r>
              <a:t>User Interface Module:</a:t>
            </a:r>
          </a:p>
          <a:p>
            <a:pPr lvl="1">
              <a:defRPr sz="1000"/>
            </a:pPr>
            <a:r>
              <a:t>Interactive map display, search controls, filter options, location selector, results list panel</a:t>
            </a:r>
          </a:p>
          <a:p>
            <a:pPr>
              <a:defRPr sz="1200" b="1"/>
            </a:pPr>
            <a:r>
              <a:t>Location Module:</a:t>
            </a:r>
          </a:p>
          <a:p>
            <a:pPr lvl="1">
              <a:defRPr sz="1000"/>
            </a:pPr>
            <a:r>
              <a:t>GPS geolocation, manual city selection, coordinate conversion, distance calculation</a:t>
            </a:r>
          </a:p>
          <a:p>
            <a:pPr>
              <a:defRPr sz="1200" b="1"/>
            </a:pPr>
            <a:r>
              <a:t>Search &amp; Filter Module:</a:t>
            </a:r>
          </a:p>
          <a:p>
            <a:pPr lvl="1">
              <a:defRPr sz="1000"/>
            </a:pPr>
            <a:r>
              <a:t>Type-based filtering, radius-based search, proximity sorting, real-time results</a:t>
            </a:r>
          </a:p>
          <a:p>
            <a:pPr>
              <a:defRPr sz="1200" b="1"/>
            </a:pPr>
            <a:r>
              <a:t>Mapping Module:</a:t>
            </a:r>
          </a:p>
          <a:p>
            <a:pPr lvl="1">
              <a:defRPr sz="1000"/>
            </a:pPr>
            <a:r>
              <a:t>Leaflet.js integration, marker placement, popup information, map tile loading</a:t>
            </a:r>
          </a:p>
          <a:p>
            <a:pPr>
              <a:defRPr sz="1200" b="1"/>
            </a:pPr>
            <a:r>
              <a:t>Admin Authentication Module:</a:t>
            </a:r>
          </a:p>
          <a:p>
            <a:pPr lvl="1">
              <a:defRPr sz="1000"/>
            </a:pPr>
            <a:r>
              <a:t>Login system, session management, access control, logout functionality</a:t>
            </a:r>
          </a:p>
          <a:p>
            <a:pPr>
              <a:defRPr sz="1200" b="1"/>
            </a:pPr>
            <a:r>
              <a:t>CRUD Operations Module:</a:t>
            </a:r>
          </a:p>
          <a:p>
            <a:pPr lvl="1">
              <a:defRPr sz="1000"/>
            </a:pPr>
            <a:r>
              <a:t>Add new centers, edit existing data, delete centers, validate inputs</a:t>
            </a:r>
          </a:p>
          <a:p>
            <a:pPr>
              <a:defRPr sz="1200" b="1"/>
            </a:pPr>
            <a:r>
              <a:t>Database Module:</a:t>
            </a:r>
          </a:p>
          <a:p>
            <a:pPr lvl="1">
              <a:defRPr sz="1000"/>
            </a:pPr>
            <a:r>
              <a:t>MySQL connection, prepared statements, data retrieval, transaction management</a:t>
            </a:r>
          </a:p>
          <a:p>
            <a:pPr>
              <a:defRPr sz="1200" b="1"/>
            </a:pPr>
            <a:r>
              <a:t>API Module:</a:t>
            </a:r>
          </a:p>
          <a:p>
            <a:pPr lvl="1">
              <a:defRPr sz="1000"/>
            </a:pPr>
            <a:r>
              <a:t>RESTful endpoints, JSON responses, error handling, CORS configuration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300" b="1"/>
            </a:pPr>
            <a:r>
              <a:t>Frontend Implementation:</a:t>
            </a:r>
          </a:p>
          <a:p>
            <a:pPr lvl="1">
              <a:defRPr sz="1100"/>
            </a:pPr>
            <a:r>
              <a:t>HTML5 semantic structure with responsive meta tags</a:t>
            </a:r>
          </a:p>
          <a:p>
            <a:pPr lvl="1">
              <a:defRPr sz="1100"/>
            </a:pPr>
            <a:r>
              <a:t>CSS3 with custom properties for theming</a:t>
            </a:r>
          </a:p>
          <a:p>
            <a:pPr lvl="1">
              <a:defRPr sz="1100"/>
            </a:pPr>
            <a:r>
              <a:t>JavaScript ES6+ with async/await for API calls</a:t>
            </a:r>
          </a:p>
          <a:p>
            <a:pPr lvl="1">
              <a:defRPr sz="1100"/>
            </a:pPr>
            <a:r>
              <a:t>Leaflet.js for map initialization and marker management</a:t>
            </a:r>
          </a:p>
          <a:p>
            <a:pPr lvl="1">
              <a:defRPr sz="1100"/>
            </a:pPr>
            <a:r>
              <a:t>Event listeners for user interactions</a:t>
            </a:r>
          </a:p>
          <a:p>
            <a:pPr>
              <a:defRPr sz="1300" b="1"/>
            </a:pPr>
            <a:r>
              <a:t>Backend Implementation:</a:t>
            </a:r>
          </a:p>
          <a:p>
            <a:pPr lvl="1">
              <a:defRPr sz="1100"/>
            </a:pPr>
            <a:r>
              <a:t>PHP 7.4+ with MySQLi extension</a:t>
            </a:r>
          </a:p>
          <a:p>
            <a:pPr lvl="1">
              <a:defRPr sz="1100"/>
            </a:pPr>
            <a:r>
              <a:t>Prepared statements to prevent SQL injection</a:t>
            </a:r>
          </a:p>
          <a:p>
            <a:pPr lvl="1">
              <a:defRPr sz="1100"/>
            </a:pPr>
            <a:r>
              <a:t>JSON encoding for API responses</a:t>
            </a:r>
          </a:p>
          <a:p>
            <a:pPr lvl="1">
              <a:defRPr sz="1100"/>
            </a:pPr>
            <a:r>
              <a:t>Session management for admin authentication</a:t>
            </a:r>
          </a:p>
          <a:p>
            <a:pPr lvl="1">
              <a:defRPr sz="1100"/>
            </a:pPr>
            <a:r>
              <a:t>Haversine formula for distance calculation</a:t>
            </a:r>
          </a:p>
          <a:p>
            <a:pPr lvl="1">
              <a:defRPr sz="1100"/>
            </a:pPr>
            <a:r>
              <a:t>Error handling with HTTP status codes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Test Cases Executed:</a:t>
            </a:r>
          </a:p>
          <a:p>
            <a:pPr lvl="1">
              <a:defRPr sz="1100"/>
            </a:pPr>
            <a:r>
              <a:t>TC01: Database connection test - PASSED</a:t>
            </a:r>
          </a:p>
          <a:p>
            <a:pPr lvl="1">
              <a:defRPr sz="1100"/>
            </a:pPr>
            <a:r>
              <a:t>TC02: User location detection via GPS - PASSED</a:t>
            </a:r>
          </a:p>
          <a:p>
            <a:pPr lvl="1">
              <a:defRPr sz="1100"/>
            </a:pPr>
            <a:r>
              <a:t>TC03: Manual city selection from dropdown - PASSED</a:t>
            </a:r>
          </a:p>
          <a:p>
            <a:pPr lvl="1">
              <a:defRPr sz="1100"/>
            </a:pPr>
            <a:r>
              <a:t>TC04: Filter by resource type (shelter/food/medical/water) - PASSED</a:t>
            </a:r>
          </a:p>
          <a:p>
            <a:pPr lvl="1">
              <a:defRPr sz="1100"/>
            </a:pPr>
            <a:r>
              <a:t>TC05: Radius-based search (1-100 km) - PASSED</a:t>
            </a:r>
          </a:p>
          <a:p>
            <a:pPr lvl="1">
              <a:defRPr sz="1100"/>
            </a:pPr>
            <a:r>
              <a:t>TC06: Map marker display and popup - PASSED</a:t>
            </a:r>
          </a:p>
          <a:p>
            <a:pPr lvl="1">
              <a:defRPr sz="1100"/>
            </a:pPr>
            <a:r>
              <a:t>TC07: Distance calculation accuracy - PASSED</a:t>
            </a:r>
          </a:p>
          <a:p>
            <a:pPr lvl="1">
              <a:defRPr sz="1100"/>
            </a:pPr>
            <a:r>
              <a:t>TC08: Admin login authentication - PASSED</a:t>
            </a:r>
          </a:p>
          <a:p>
            <a:pPr lvl="1">
              <a:defRPr sz="1100"/>
            </a:pPr>
            <a:r>
              <a:t>TC09: Add new relief center - PASSED</a:t>
            </a:r>
          </a:p>
          <a:p>
            <a:pPr lvl="1">
              <a:defRPr sz="1100"/>
            </a:pPr>
            <a:r>
              <a:t>TC10: Edit existing center - PASSED</a:t>
            </a:r>
          </a:p>
          <a:p>
            <a:pPr lvl="1">
              <a:defRPr sz="1100"/>
            </a:pPr>
            <a:r>
              <a:t>TC11: Delete center with confirmation - PASSED</a:t>
            </a:r>
          </a:p>
          <a:p>
            <a:pPr lvl="1">
              <a:defRPr sz="1100"/>
            </a:pPr>
            <a:r>
              <a:t>TC12: API error handling - PASSED</a:t>
            </a:r>
          </a:p>
          <a:p>
            <a:pPr lvl="1">
              <a:defRPr sz="1100"/>
            </a:pPr>
            <a:r>
              <a:t>TC13: Mobile responsiveness - PASSED</a:t>
            </a:r>
          </a:p>
          <a:p>
            <a:pPr lvl="1">
              <a:defRPr sz="1100"/>
            </a:pPr>
            <a:r>
              <a:t>TC14: Cross-browser compatibility - PASSED</a:t>
            </a:r>
          </a:p>
          <a:p>
            <a:pPr lvl="1">
              <a:defRPr sz="1100"/>
            </a:pPr>
            <a:r>
              <a:t>TC15: SQL injection prevention - PASSED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 b="1"/>
            </a:pPr>
            <a:r>
              <a:t>Conclusion:</a:t>
            </a:r>
          </a:p>
          <a:p>
            <a:pPr>
              <a:defRPr sz="1200"/>
            </a:pPr>
            <a:r>
              <a:t>Successfully developed a web-based disaster relief resource finder with interactive mapping, real-time updates, and location-based search. The system provides quick access to 100+ relief centers across Andhra Pradesh, helping citizens during emergencies.</a:t>
            </a:r>
          </a:p>
          <a:p>
            <a:pPr>
              <a:defRPr sz="1400" b="1"/>
            </a:pPr>
            <a:r>
              <a:t>Future Enhancements:</a:t>
            </a:r>
          </a:p>
          <a:p>
            <a:pPr lvl="1">
              <a:defRPr sz="1100"/>
            </a:pPr>
            <a:r>
              <a:t>Real-time updates using WebSockets</a:t>
            </a:r>
          </a:p>
          <a:p>
            <a:pPr lvl="1">
              <a:defRPr sz="1100"/>
            </a:pPr>
            <a:r>
              <a:t>Mobile app development (React Native/Flutter)</a:t>
            </a:r>
          </a:p>
          <a:p>
            <a:pPr lvl="1">
              <a:defRPr sz="1100"/>
            </a:pPr>
            <a:r>
              <a:t>SMS/Email notification system</a:t>
            </a:r>
          </a:p>
          <a:p>
            <a:pPr lvl="1">
              <a:defRPr sz="1100"/>
            </a:pPr>
            <a:r>
              <a:t>Multi-language support (Telugu, Hindi, Tamil)</a:t>
            </a:r>
          </a:p>
          <a:p>
            <a:pPr lvl="1">
              <a:defRPr sz="1100"/>
            </a:pPr>
            <a:r>
              <a:t>Offline mode with service workers</a:t>
            </a:r>
          </a:p>
          <a:p>
            <a:pPr lvl="1">
              <a:defRPr sz="1100"/>
            </a:pPr>
            <a:r>
              <a:t>Advanced analytics dashboard</a:t>
            </a:r>
          </a:p>
          <a:p>
            <a:pPr lvl="1">
              <a:defRPr sz="1100"/>
            </a:pPr>
            <a:r>
              <a:t>Integration with emergency services APIs</a:t>
            </a:r>
          </a:p>
          <a:p>
            <a:pPr lvl="1">
              <a:defRPr sz="1100"/>
            </a:pPr>
            <a:r>
              <a:t>Crowdsourced updates and verification</a:t>
            </a:r>
          </a:p>
          <a:p>
            <a:pPr lvl="1">
              <a:defRPr sz="1100"/>
            </a:pPr>
            <a:r>
              <a:t>AI-based resource allocation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ctr">
              <a:defRPr sz="2400" b="1"/>
            </a:pPr>
            <a:r>
              <a:t>Questions &amp; Answers</a:t>
            </a:r>
          </a:p>
          <a:p>
            <a:r>
              <a:t> </a:t>
            </a:r>
          </a:p>
          <a:p>
            <a:pPr algn="ctr">
              <a:defRPr sz="2000"/>
            </a:pPr>
            <a:r>
              <a:t>Thank you for your attention!</a:t>
            </a:r>
          </a:p>
          <a:p>
            <a:r>
              <a:t> </a:t>
            </a:r>
          </a:p>
          <a:p>
            <a:pPr>
              <a:defRPr sz="1400"/>
            </a:pPr>
            <a:r>
              <a:t>Feel free to ask any questions about:</a:t>
            </a:r>
          </a:p>
          <a:p>
            <a:pPr lvl="1">
              <a:defRPr sz="1300"/>
            </a:pPr>
            <a:r>
              <a:t>System architecture and design</a:t>
            </a:r>
          </a:p>
          <a:p>
            <a:pPr lvl="1">
              <a:defRPr sz="1300"/>
            </a:pPr>
            <a:r>
              <a:t>Implementation details</a:t>
            </a:r>
          </a:p>
          <a:p>
            <a:pPr lvl="1">
              <a:defRPr sz="1300"/>
            </a:pPr>
            <a:r>
              <a:t>Technology stack choices</a:t>
            </a:r>
          </a:p>
          <a:p>
            <a:pPr lvl="1">
              <a:defRPr sz="1300"/>
            </a:pPr>
            <a:r>
              <a:t>Testing methodology</a:t>
            </a:r>
          </a:p>
          <a:p>
            <a:pPr lvl="1">
              <a:defRPr sz="1300"/>
            </a:pPr>
            <a:r>
              <a:t>Future enhancements</a:t>
            </a:r>
          </a:p>
          <a:p>
            <a:pPr lvl="1">
              <a:defRPr sz="1300"/>
            </a:pPr>
            <a:r>
              <a:t>Deployment process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Leaflet.js Documentation - https://leafletjs.com/</a:t>
            </a:r>
          </a:p>
          <a:p>
            <a:pPr>
              <a:defRPr sz="1200"/>
            </a:pPr>
            <a:r>
              <a:t>OpenStreetMap - https://www.openstreetmap.org/</a:t>
            </a:r>
          </a:p>
          <a:p>
            <a:pPr>
              <a:defRPr sz="1200"/>
            </a:pPr>
            <a:r>
              <a:t>PHP Official Documentation - https://www.php.net/docs.php</a:t>
            </a:r>
          </a:p>
          <a:p>
            <a:pPr>
              <a:defRPr sz="1200"/>
            </a:pPr>
            <a:r>
              <a:t>MySQL Documentation - https://dev.mysql.com/doc/</a:t>
            </a:r>
          </a:p>
          <a:p>
            <a:pPr>
              <a:defRPr sz="1200"/>
            </a:pPr>
            <a:r>
              <a:t>National Disaster Management Authority (NDMA) - https://ndma.gov.in/</a:t>
            </a:r>
          </a:p>
          <a:p>
            <a:pPr>
              <a:defRPr sz="1200"/>
            </a:pPr>
            <a:r>
              <a:t>State Disaster Management Authority, Andhra Pradesh</a:t>
            </a:r>
          </a:p>
          <a:p>
            <a:pPr>
              <a:defRPr sz="1200"/>
            </a:pPr>
            <a:r>
              <a:t>Web GIS Applications for Disaster Management - Research Papers</a:t>
            </a:r>
          </a:p>
          <a:p>
            <a:pPr>
              <a:defRPr sz="1200"/>
            </a:pPr>
            <a:r>
              <a:t>HTML5 Geolocation API - MDN Web Docs</a:t>
            </a:r>
          </a:p>
          <a:p>
            <a:pPr>
              <a:defRPr sz="1200"/>
            </a:pPr>
            <a:r>
              <a:t>RESTful API Design Best Practices</a:t>
            </a:r>
          </a:p>
          <a:p>
            <a:pPr>
              <a:defRPr sz="1200"/>
            </a:pPr>
            <a:r>
              <a:t>Responsive Web Design Principles - W3C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